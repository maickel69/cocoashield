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00584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CAA0"/>
                </a:solidFill>
              </a:defRPr>
            </a:pPr>
            <a:r>
              <a:t>ARQUITECTURA DE SOFTWARE &amp; ECOSISTEMA DISTRIBUIDO</a:t>
            </a:r>
          </a:p>
          <a:p>
            <a:pPr algn="ctr">
              <a:defRPr sz="4600" b="1">
                <a:solidFill>
                  <a:srgbClr val="FFFFFF"/>
                </a:solidFill>
              </a:defRPr>
            </a:pPr>
            <a:r>
              <a:t>CocoaShield AI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Plataforma Inteligente y Multimodal para el Diagnóstico Fitosanitario,</a:t>
            </a:r>
            <a:br/>
            <a:r>
              <a:t>Monitoreo Epidemiológico en Tiempo Real y Trazabilidad del Cultivo de Cacao (Theobroma cacao)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5120640"/>
            <a:ext cx="7619695" cy="109728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11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5212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Desarrollador / Ponente: Maickel Alberto (UNAMAD)</a:t>
            </a:r>
          </a:p>
          <a:p>
            <a:pPr algn="ctr">
              <a:defRPr sz="1150">
                <a:solidFill>
                  <a:srgbClr val="F59E0B"/>
                </a:solidFill>
              </a:defRPr>
            </a:pPr>
            <a:r>
              <a:t>Universidad Nacional Amazónica de Madre de Dios · 2026</a:t>
            </a:r>
            <a:br/>
            <a:r>
              <a:t>Ingeniería de Sistemas · Proyecto de Innovación Agrotecnológica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CAA0"/>
                </a:solidFill>
              </a:defRPr>
            </a:pPr>
            <a:r>
              <a:t>CONTEXTO Y PROBLEMÁTICA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El Desafío Fitosanitario del Cacao Amazónico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Las enfermedades fúngicas reducen hasta el 80% de la producción en zonas de difícil acceso y baja conectividad.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11480"/>
            <a:ext cx="68580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🚨 El Problema en Campo</a:t>
            </a:r>
          </a:p>
          <a:p>
            <a:pPr>
              <a:spcBef>
                <a:spcPts val="1200"/>
              </a:spcBef>
              <a:defRPr b="1" sz="1250">
                <a:solidFill>
                  <a:srgbClr val="FFFFFF"/>
                </a:solidFill>
              </a:defRPr>
            </a:pPr>
            <a:r>
              <a:t>• Pérdidas Devastadoras: </a:t>
            </a:r>
            <a:r>
              <a:rPr b="0">
                <a:solidFill>
                  <a:srgbClr val="94A3B8"/>
                </a:solidFill>
              </a:rPr>
              <a:t>Monilia (Moniliophthora roreri), Escoba de Bruja (M. perniciosa) y Mazorca Negra (Phytophthora spp.) causan pérdidas de hasta 60-80% de la cosecha.</a:t>
            </a:r>
          </a:p>
          <a:p>
            <a:pPr>
              <a:spcBef>
                <a:spcPts val="1200"/>
              </a:spcBef>
              <a:defRPr b="1" sz="1250">
                <a:solidFill>
                  <a:srgbClr val="FFFFFF"/>
                </a:solidFill>
              </a:defRPr>
            </a:pPr>
            <a:r>
              <a:t>• Detección Tardía: </a:t>
            </a:r>
            <a:r>
              <a:rPr b="0">
                <a:solidFill>
                  <a:srgbClr val="94A3B8"/>
                </a:solidFill>
              </a:rPr>
              <a:t>Los agricultores detectan la infección cuando el hongo ya esporuló (polvillo blanco), infectando árboles vecinos de manera exponencial.</a:t>
            </a:r>
          </a:p>
          <a:p>
            <a:pPr>
              <a:spcBef>
                <a:spcPts val="1200"/>
              </a:spcBef>
              <a:defRPr b="1" sz="1250">
                <a:solidFill>
                  <a:srgbClr val="FFFFFF"/>
                </a:solidFill>
              </a:defRPr>
            </a:pPr>
            <a:r>
              <a:t>• Baja Conectividad: </a:t>
            </a:r>
            <a:r>
              <a:rPr b="0">
                <a:solidFill>
                  <a:srgbClr val="94A3B8"/>
                </a:solidFill>
              </a:rPr>
              <a:t>Las parcelas cacaoteras se ubican en zonas rurales de la selva con señal celular nula o intermitente (imposibilidad de usar apps web convencionales).</a:t>
            </a:r>
          </a:p>
          <a:p>
            <a:pPr>
              <a:spcBef>
                <a:spcPts val="1200"/>
              </a:spcBef>
              <a:defRPr b="1" sz="1250">
                <a:solidFill>
                  <a:srgbClr val="FFFFFF"/>
                </a:solidFill>
              </a:defRPr>
            </a:pPr>
            <a:r>
              <a:t>• Falta de Trazabilidad: </a:t>
            </a:r>
            <a:r>
              <a:rPr b="0">
                <a:solidFill>
                  <a:srgbClr val="94A3B8"/>
                </a:solidFill>
              </a:rPr>
              <a:t>Los comités agrícolas y técnicos de extensión no cuentan con cartografía en tiempo real para focalizar cuadrillas de intervención fitosanitaria.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11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CAA0"/>
                </a:solidFill>
              </a:defRPr>
            </a:pPr>
            <a:r>
              <a:t>🛡️ La Solución: Ecosistema CocoaShield AI</a:t>
            </a:r>
          </a:p>
          <a:p>
            <a:pPr>
              <a:spcBef>
                <a:spcPts val="1200"/>
              </a:spcBef>
              <a:defRPr b="1" sz="1250">
                <a:solidFill>
                  <a:srgbClr val="11CAA0"/>
                </a:solidFill>
              </a:defRPr>
            </a:pPr>
            <a:r>
              <a:t>✔ Diagnóstico Móvil Offline-First: </a:t>
            </a:r>
            <a:r>
              <a:rPr b="0">
                <a:solidFill>
                  <a:srgbClr val="94A3B8"/>
                </a:solidFill>
              </a:rPr>
              <a:t>App PWA que captura, comprime y diagnostica en campo con georreferenciación GPS por satélite y almacenamiento local sin requerir internet.</a:t>
            </a:r>
          </a:p>
          <a:p>
            <a:pPr>
              <a:spcBef>
                <a:spcPts val="1200"/>
              </a:spcBef>
              <a:defRPr b="1" sz="1250">
                <a:solidFill>
                  <a:srgbClr val="11CAA0"/>
                </a:solidFill>
              </a:defRPr>
            </a:pPr>
            <a:r>
              <a:t>✔ Visión Artificial Multimodal: </a:t>
            </a:r>
            <a:r>
              <a:rPr b="0">
                <a:solidFill>
                  <a:srgbClr val="94A3B8"/>
                </a:solidFill>
              </a:rPr>
              <a:t>Motor de IA entrenado en taxonomía botánica con Google Gemini Vision para clasificar las 4 afecciones clave con más de 95% de certeza.</a:t>
            </a:r>
          </a:p>
          <a:p>
            <a:pPr>
              <a:spcBef>
                <a:spcPts val="1200"/>
              </a:spcBef>
              <a:defRPr b="1" sz="1250">
                <a:solidFill>
                  <a:srgbClr val="11CAA0"/>
                </a:solidFill>
              </a:defRPr>
            </a:pPr>
            <a:r>
              <a:t>✔ Mapa Epidemiológico GIS: </a:t>
            </a:r>
            <a:r>
              <a:rPr b="0">
                <a:solidFill>
                  <a:srgbClr val="94A3B8"/>
                </a:solidFill>
              </a:rPr>
              <a:t>Dashboard central con visualización geoespacial de brotes mediante capas satelitales (Esri World Imagery) y alertas en tiempo real.</a:t>
            </a:r>
          </a:p>
          <a:p>
            <a:pPr>
              <a:spcBef>
                <a:spcPts val="1200"/>
              </a:spcBef>
              <a:defRPr b="1" sz="1250">
                <a:solidFill>
                  <a:srgbClr val="11CAA0"/>
                </a:solidFill>
              </a:defRPr>
            </a:pPr>
            <a:r>
              <a:t>✔ Trazabilidad y Recetas Técnicas: </a:t>
            </a:r>
            <a:r>
              <a:rPr b="0">
                <a:solidFill>
                  <a:srgbClr val="94A3B8"/>
                </a:solidFill>
              </a:rPr>
              <a:t>Módulo para emisión inmediata de prescripciones agronómicas y exportación de reportes ejecutivos para brigadas técnicas.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CAA0"/>
                </a:solidFill>
              </a:defRPr>
            </a:pPr>
            <a:r>
              <a:t>DISEÑO DE SISTEMAS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Arquitectura Distribuida en 4 Capas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Desacoplamiento modular, alta disponibilidad y sincronización en tiempo real.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11480"/>
            <a:ext cx="68580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2542032" cy="466344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11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CAA0"/>
                </a:solidFill>
              </a:defRPr>
            </a:pPr>
            <a:r>
              <a:t>CAPA 1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Clientes &amp; Edge UI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App Móvil PWA (React + Vite)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Offline-First (IndexedDB / LocalStorage)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Geolocalización satelital W3C Geolocation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Dashboard Web Analítico (TailwindCSS)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Visualización Recharts + Leaflet GIS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691640"/>
            <a:ext cx="2542032" cy="466344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87452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CAPA 2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Gateway &amp; Orquestador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Node.js / Express Microservice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Broadcasting SSE (/api/events)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Ingesta &amp; sincronización (/api/cases)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Gestor de Recetas Agronómicas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Compresión y limitador de payload 50MB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691640"/>
            <a:ext cx="2542032" cy="466344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87452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CAPA 3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Motor IA Multimodal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Python / FastAPI Microservice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Google Gemini Vision Multimodal LLM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Ingeniería de prompts fitopatológicos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Salida JSON estructurada estricta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Resiliencia: Fallback heurístico de color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78824" y="1691640"/>
            <a:ext cx="2542032" cy="466344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15984" y="187452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CAPA 4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Persistencia &amp; Datos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PostgreSQL 15 (Supabase Cloud)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PostGIS: Coordenadas Espaciales Point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Índices espaciales idx_casos_lat_lon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Fallback Edge: db.json atómico local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▸ Soporte para sensores IoT microclimáticos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CAA0"/>
                </a:solidFill>
              </a:defRPr>
            </a:pPr>
            <a:r>
              <a:t>CLIENTE MÓVIL DE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Arquitectura del Cliente Móvil Offline-First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Diseñado para operar en zonas rurales sin señal celular y sincronizarse automáticamente al reconectar.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11480"/>
            <a:ext cx="68580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10725912" cy="137160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11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CAA0"/>
                </a:solidFill>
              </a:defRPr>
            </a:pPr>
            <a:r>
              <a:t>📱 Interfaz de Usuario y PWA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Construida con React 18, Vite y componentes Tabler Icons.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Diseño ergonómico para uso con una sola mano en campo bajo luz solar directa.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Mockup inteligente de escritorio con marco de teléfono (40px border-radius) para auditoría y pruebas web.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Navegación limpia de 3 secciones: Inicio, Historial de Diagnósticos y Mi Cuenta.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10725912" cy="137160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39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📷 Pipeline de Captura &amp; Compresión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Acceso directo a la cámara del dispositivo mediante HTML5 capture='environment'.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Compresión dinámica en el Canvas del cliente a resolución máxima de 300px.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Reducción del payload de imagen de ~5MB a ~40KB (99% de optimización de ancho de banda).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Extracción simultánea de coordenadas GPS satelitales (latitud, longitud y precisión en metros).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00600"/>
            <a:ext cx="10725912" cy="137160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💾 Resiliencia Offline (Database.js)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Almacenamiento persistente local en IndexedDB / LocalStorage para cientos de diagnósticos.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Generador de miniaturas visuales vectoriales CocoaPodSVG para previsualizar sin gastar memoria.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Modo híbrido: Detección heurística de color local inmediata cuando no hay acceso a la nube.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Mecanismo de sincronización en segundo plano al restablecer la conectividad celular o WiFi.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CAA0"/>
                </a:solidFill>
              </a:defRPr>
            </a:pPr>
            <a:r>
              <a:t>CENTRO DE MANDO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Dashboard Analítico &amp; Mapa Epidemiológico 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Plataforma web de comando para supervisión regional, toma de decisiones y emisión de recetas fitosanitarias.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11480"/>
            <a:ext cx="68580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10725912" cy="137160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22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CAA0"/>
                </a:solidFill>
              </a:defRPr>
            </a:pPr>
            <a:r>
              <a:t>🗺️ Cartografía GIS Satelital (GisMap.jsx)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Motor de mapeo geoespacial basado en Leaflet.js.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Integración de capas satelitales de alta resolución de Esri (World Imagery, Dark Gray Canvas y World Topo).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Marcadores interactivos por gravedad de infección (Rojo Monilia, Naranja Mazorca Negra, Verde Escoba de Bruja).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Tarjeta flotante de detalle de caso con coordenadas, foto en alta resolución y acceso a receta agronómica.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10725912" cy="137160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22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39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CAA0"/>
                </a:solidFill>
              </a:defRPr>
            </a:pPr>
            <a:r>
              <a:t>📊 Analítica Predictiva &amp; Gráficos (Recharts)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Curvas temporales con degradados semitransparentes (AreaChart) para evaluar dinámica epidemiológica mensual.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Gráfico de dona de distribución con contador central de brotes y barras de proporción porcentual por enfermedad.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KPIs ejecutivos en tiempo real: Total Escaneos, Alertas Críticas, Patógeno Predominante y Productores en Campo.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Soporte bimodal fluido: Modo Oscuro Táctico (#0B192C) y Modo Claro Agronómico.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00600"/>
            <a:ext cx="10725912" cy="137160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22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CAA0"/>
                </a:solidFill>
              </a:defRPr>
            </a:pPr>
            <a:r>
              <a:t>⚡ Tiempo Real &amp; Emisión de Recetas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Conexión persistente mediante Server-Sent Events (SSE) que actualiza el mapa y las tablas sin recargar la página.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Módulo de prescripción fitosanitaria: emisión de recetas agronómicas personalizadas para cada productor.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Filtros avanzados multidimensionales por provincia (Napo, Sucumbíos, Orellana, Pastaza), patógeno y rango de fechas.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Exportación directa de expedientes y registros epidemiológicos a formato Excel / CSV para auditorías.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CAA0"/>
                </a:solidFill>
              </a:defRPr>
            </a:pPr>
            <a:r>
              <a:t>CAPA DE SERVICIOS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Backend REST &amp; Transmisión SSE en Tiempo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Servicio centralizado en Node.js y Express con persistencia dual y streaming unidireccional de baja latencia.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11480"/>
            <a:ext cx="68580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⚡ Streaming en Vivo con Server-Sent Events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• Endpoint /api/events: </a:t>
            </a:r>
            <a:r>
              <a:rPr b="0">
                <a:solidFill>
                  <a:srgbClr val="94A3B8"/>
                </a:solidFill>
              </a:rPr>
              <a:t>Mantiene conexiones HTTP persistentes con múltiples clientes del Dashboard de forma ultra-ligera.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• Difusión Broadcast: </a:t>
            </a:r>
            <a:r>
              <a:rPr b="0">
                <a:solidFill>
                  <a:srgbClr val="94A3B8"/>
                </a:solidFill>
              </a:rPr>
              <a:t>Cuando la app móvil registra un nuevo caso, el servidor emite un evento ADD_CASE inmediatamente a todos los operadores conectados.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• Zero Polling Overhead: </a:t>
            </a:r>
            <a:r>
              <a:rPr b="0">
                <a:solidFill>
                  <a:srgbClr val="94A3B8"/>
                </a:solidFill>
              </a:rPr>
              <a:t>Elimina peticiones periódicas innecesarias cada N segundos, reduciendo el consumo de CPU y ancho de banda en un 95%.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• Reconexión Automática: </a:t>
            </a:r>
            <a:r>
              <a:rPr b="0">
                <a:solidFill>
                  <a:srgbClr val="94A3B8"/>
                </a:solidFill>
              </a:rPr>
              <a:t>Gestor de desconexión y reintento automático incorporado con detección de estado del cliente y log de auditoría 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11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CAA0"/>
                </a:solidFill>
              </a:defRPr>
            </a:pPr>
            <a:r>
              <a:t>🗄️ Estrategia de Persistencia Híbrida Dual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• Conector PostgreSQL (Supabase): </a:t>
            </a:r>
            <a:r>
              <a:rPr b="0">
                <a:solidFill>
                  <a:srgbClr val="94A3B8"/>
                </a:solidFill>
              </a:rPr>
              <a:t>Pool de conexiones con 'pg' que persiste casos, metadatos, severidad y coordenadas georreferenciadas.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• Fallback Local Atómico (db.json): </a:t>
            </a:r>
            <a:r>
              <a:rPr b="0">
                <a:solidFill>
                  <a:srgbClr val="94A3B8"/>
                </a:solidFill>
              </a:rPr>
              <a:t>Si la base de datos cloud no está disponible o se opera en red aislada, el servidor conmuta a almacenamiento JSON local.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• Semillero Autónomo (seedCases.json): </a:t>
            </a:r>
            <a:r>
              <a:rPr b="0">
                <a:solidFill>
                  <a:srgbClr val="94A3B8"/>
                </a:solidFill>
              </a:rPr>
              <a:t>Carga inicial de casos precargados de calibración para garantizar disponibilidad inmediata desde el primer despliegue.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• Endpoints de Gestión: </a:t>
            </a:r>
            <a:r>
              <a:rPr b="0">
                <a:solidFill>
                  <a:srgbClr val="94A3B8"/>
                </a:solidFill>
              </a:rPr>
              <a:t>APIs dedicadas para sincronización por lotes (/api/cases/sync), actualización de recetas (/api/cases/prescription) y consultas filtradas.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CAA0"/>
                </a:solidFill>
              </a:defRPr>
            </a:pPr>
            <a:r>
              <a:t>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Motor de IA Multimodal &amp; Detección Fitosanitaria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FastAPI + Google Gemini Vision optimizado con ingeniería de prompts agronómica para Theobroma cacao.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11480"/>
            <a:ext cx="68580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737360"/>
            <a:ext cx="10725912" cy="210312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🧠 Inferencia Multimodal Especializada (Gemini Vision + Prompt Engineering Botánico)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Modelos Utilizados: Selección en cascada de gemini-flash-latest y gemini-flash-lite-latest para inferencia en menos de 1.8 segundos.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Prompt de Especialista: Actúa como un fitopatólogo agrónomo experto, evaluando morfología de manchas, esporulación y deformaciones.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Manejo de Casos de Borde: Reconocimiento explícito de fundas plásticas de protección agrícola para no confundir condensación o brillo con esporas.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Formato JSON Estricto: Respuestas garantizadas con diagnosis, confidence, description, scientific_name y treatment inmediato.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2542032" cy="219456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251960"/>
            <a:ext cx="232257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Monilia</a:t>
            </a:r>
          </a:p>
          <a:p>
            <a:pPr>
              <a:spcAft>
                <a:spcPts val="800"/>
              </a:spcAft>
              <a:defRPr sz="1000" i="1">
                <a:solidFill>
                  <a:srgbClr val="FFFFFF"/>
                </a:solidFill>
              </a:defRPr>
            </a:pPr>
            <a:r>
              <a:t>Moniliophthora roreri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Esporas blancas/cenicientas harinosas y gibas asimétricas con pudrición acuosa.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4114800"/>
            <a:ext cx="2542032" cy="219456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4251960"/>
            <a:ext cx="232257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Mazorca Negra</a:t>
            </a:r>
          </a:p>
          <a:p>
            <a:pPr>
              <a:spcAft>
                <a:spcPts val="800"/>
              </a:spcAft>
              <a:defRPr sz="1000" i="1">
                <a:solidFill>
                  <a:srgbClr val="FFFFFF"/>
                </a:solidFill>
              </a:defRPr>
            </a:pPr>
            <a:r>
              <a:t>Phytophthora spp.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Necrosis parda a negro carbón homogénea, lisa o momificada, sin polvillo blanco.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4114800"/>
            <a:ext cx="2542032" cy="219456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11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4251960"/>
            <a:ext cx="232257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CAA0"/>
                </a:solidFill>
              </a:defRPr>
            </a:pPr>
            <a:r>
              <a:t>Escoba de Bruja</a:t>
            </a:r>
          </a:p>
          <a:p>
            <a:pPr>
              <a:spcAft>
                <a:spcPts val="800"/>
              </a:spcAft>
              <a:defRPr sz="1000" i="1">
                <a:solidFill>
                  <a:srgbClr val="FFFFFF"/>
                </a:solidFill>
              </a:defRPr>
            </a:pPr>
            <a:r>
              <a:t>Moniliophthora perniciosa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Ramillas hipertróficas en racimo, necrosis leñosa dura y maduración en mosaico.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78824" y="4114800"/>
            <a:ext cx="2542032" cy="219456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4251960"/>
            <a:ext cx="232257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Cacao Sano</a:t>
            </a:r>
          </a:p>
          <a:p>
            <a:pPr>
              <a:spcAft>
                <a:spcPts val="800"/>
              </a:spcAft>
              <a:defRPr sz="1000" i="1">
                <a:solidFill>
                  <a:srgbClr val="FFFFFF"/>
                </a:solidFill>
              </a:defRPr>
            </a:pPr>
            <a:r>
              <a:t>Theobroma cacao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Tejido vegetal limpio y vigoroso, mazorca de coloración uniforme sin necrosis activa.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CAA0"/>
                </a:solidFill>
              </a:defRPr>
            </a:pPr>
            <a:r>
              <a:t>BASE DE DATOS ESPACIAL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Modelo de Datos Relacional &amp; PostGIS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Arquitectura de datos optimizada para trazabilidad territorial y consultas espaciales de alto rendimiento.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11480"/>
            <a:ext cx="68580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3456432" cy="347472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11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56232"/>
            <a:ext cx="3182112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CAA0"/>
                </a:solidFill>
              </a:defRPr>
            </a:pPr>
            <a:r>
              <a:t>1. TABLA 'fincas'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</a:defRPr>
            </a:pPr>
            <a:r>
              <a:t>Registro de Predios y Parcelas Agrícolas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id: UUID (Clave Primaria)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nombre_finca: VARCHAR(255)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propietario: VARCHAR(255)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provincia: VARCHAR (Napo / Sucumbíos)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area_hectareas: NUMERIC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ubicacion: GEOMETRY(Point, 4326)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691640"/>
            <a:ext cx="3456432" cy="347472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856232"/>
            <a:ext cx="3182112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2. TABLA 'casos_epidemiologicos'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</a:defRPr>
            </a:pPr>
            <a:r>
              <a:t>Diagnósticos y Evidencia Fitosanitaria IA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id: UUID (Clave Primaria)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finca_id: UUID (FK fincas.id)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diagnostico: VARCHAR (Monilia, etc.)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confianza_porcentaje: NUMERIC (0-100)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nivel_severidad: VARCHAR (Crítica / Alta)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url_imagen_cloud: TEXT (URL evidencia)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latitud / longitud: NUMERIC(10,8)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tratamiento_recomendado: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691640"/>
            <a:ext cx="3456432" cy="347472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9016" y="1856232"/>
            <a:ext cx="3182112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TABLA 'lecturas_sensores'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</a:defRPr>
            </a:pPr>
            <a:r>
              <a:t>Telemetría IoT Microclimática (ESP32)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id: UUID (Clave Primaria)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finca_id: UUID (FK fincas.id)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dispositivo_id: VARCHAR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temperatura_celsius: NUMERIC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humedad_relativa: NUMERIC (%)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riesgo_estimado: VARCHAR (Alto / Medio)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created_at: TIMESTAMP WITH TIME ZONE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49240"/>
            <a:ext cx="10725912" cy="96012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22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CAA0"/>
                </a:solidFill>
              </a:defRPr>
            </a:pPr>
            <a:r>
              <a:t>🚀 Optimización Espacial mediante PostGIS e Índices B-Tree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CREATE INDEX idx_casos_lat_lon ON casos_epidemiologicos(latitud, longitud);  |  CREATE INDEX idx_casos_diagnostico ON casos_epidemiologicos(diagnostico);</a:t>
            </a:r>
            <a:br/>
            <a:r>
              <a:t>Permite consultas geoespaciales por radio de infección y filtrado de brotes en menos de 15 milisegundos en el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CAA0"/>
                </a:solidFill>
              </a:defRPr>
            </a:pPr>
            <a:r>
              <a:t>FLUJO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Ciclo de Vida del Diagnóstico: Del Campo al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Secuencia de ejecución en 6 etapas desde la captura de la mazorca hasta la visualización en el mapa.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11480"/>
            <a:ext cx="68580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737360"/>
            <a:ext cx="1664208" cy="438912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11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48132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CAA0"/>
                </a:solidFill>
              </a:defRPr>
            </a:pPr>
            <a:r>
              <a:t>PASO 1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1. Captura en Parcela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El agricultor fotografía el fruto sospechoso con la App Móvil PWA.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1737360"/>
            <a:ext cx="1664208" cy="438912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11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1920240"/>
            <a:ext cx="148132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CAA0"/>
                </a:solidFill>
              </a:defRPr>
            </a:pPr>
            <a:r>
              <a:t>PASO 2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2. Compresión &amp; GPS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El dispositivo comprime la foto a 300px y estampa coordenadas GPS satelitales.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737360"/>
            <a:ext cx="1664208" cy="438912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920240"/>
            <a:ext cx="148132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PASO 3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3. Envío al Backend API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Petición POST /api/cases enviada al backend Node.js en la nube.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737360"/>
            <a:ext cx="1664208" cy="438912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5" y="1920240"/>
            <a:ext cx="148132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PASO 4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4. Inferencia con IA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FastAPI + Gemini Vision clasifica patógeno, severidad y genera recomendaciones.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737360"/>
            <a:ext cx="1664208" cy="438912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1920240"/>
            <a:ext cx="148132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PASO 5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5. Persistencia Dual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Caso almacenado en PostgreSQL + PostGIS (Supabase) con copia atómica local.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737360"/>
            <a:ext cx="1664208" cy="438912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1920240"/>
            <a:ext cx="148132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PASO 6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6. Transmisión SSE en Vivo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Evento transmitido a todos los Dashboards; el mapa GIS se actualiza sin recarga.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CAA0"/>
                </a:solidFill>
              </a:defRPr>
            </a:pPr>
            <a:r>
              <a:t>DEVOPS &amp; DESPLIEGUE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Estructura Monorepo &amp; Despliegue Cloud en Producción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Unificación del código fuente en un solo repositorio y despliegue continuo con alta disponibilidad.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11480"/>
            <a:ext cx="68580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11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CAA0"/>
                </a:solidFill>
              </a:defRPr>
            </a:pPr>
            <a:r>
              <a:t>📦 Estructura del Monorepo (Maickel69/cocoashield)</a:t>
            </a:r>
          </a:p>
          <a:p>
            <a:pPr>
              <a:spcBef>
                <a:spcPts val="800"/>
              </a:spcBef>
              <a:defRPr b="1" sz="1200">
                <a:solidFill>
                  <a:srgbClr val="FFFFFF"/>
                </a:solidFill>
              </a:defRPr>
            </a:pPr>
            <a:r>
              <a:t>• Consolidación Completa: </a:t>
            </a:r>
            <a:r>
              <a:rPr b="0">
                <a:solidFill>
                  <a:srgbClr val="94A3B8"/>
                </a:solidFill>
              </a:rPr>
              <a:t>Fusión de los 4 repositorios individuales en un único Monorepo preservando el historial de commits.</a:t>
            </a:r>
          </a:p>
          <a:p>
            <a:pPr>
              <a:spcBef>
                <a:spcPts val="800"/>
              </a:spcBef>
              <a:defRPr b="1" sz="1200">
                <a:solidFill>
                  <a:srgbClr val="FFFFFF"/>
                </a:solidFill>
              </a:defRPr>
            </a:pPr>
            <a:r>
              <a:t>• apps/movil/: </a:t>
            </a:r>
            <a:r>
              <a:rPr b="0">
                <a:solidFill>
                  <a:srgbClr val="94A3B8"/>
                </a:solidFill>
              </a:rPr>
              <a:t>Cliente móvil PWA en React + Vite (desplegado en Vercel Edge).</a:t>
            </a:r>
          </a:p>
          <a:p>
            <a:pPr>
              <a:spcBef>
                <a:spcPts val="800"/>
              </a:spcBef>
              <a:defRPr b="1" sz="1200">
                <a:solidFill>
                  <a:srgbClr val="FFFFFF"/>
                </a:solidFill>
              </a:defRPr>
            </a:pPr>
            <a:r>
              <a:t>• apps/dashboard/: </a:t>
            </a:r>
            <a:r>
              <a:rPr b="0">
                <a:solidFill>
                  <a:srgbClr val="94A3B8"/>
                </a:solidFill>
              </a:rPr>
              <a:t>Panel de control administrativo GIS en React + TailwindCSS (desplegado en Vercel Edge).</a:t>
            </a:r>
          </a:p>
          <a:p>
            <a:pPr>
              <a:spcBef>
                <a:spcPts val="800"/>
              </a:spcBef>
              <a:defRPr b="1" sz="1200">
                <a:solidFill>
                  <a:srgbClr val="FFFFFF"/>
                </a:solidFill>
              </a:defRPr>
            </a:pPr>
            <a:r>
              <a:t>• services/backend/: </a:t>
            </a:r>
            <a:r>
              <a:rPr b="0">
                <a:solidFill>
                  <a:srgbClr val="94A3B8"/>
                </a:solidFill>
              </a:rPr>
              <a:t>Microservicio de orquestación Node.js y streaming SSE (desplegado en Render Cloud).</a:t>
            </a:r>
          </a:p>
          <a:p>
            <a:pPr>
              <a:spcBef>
                <a:spcPts val="800"/>
              </a:spcBef>
              <a:defRPr b="1" sz="1200">
                <a:solidFill>
                  <a:srgbClr val="FFFFFF"/>
                </a:solidFill>
              </a:defRPr>
            </a:pPr>
            <a:r>
              <a:t>• services/ai-service/: </a:t>
            </a:r>
            <a:r>
              <a:rPr b="0">
                <a:solidFill>
                  <a:srgbClr val="94A3B8"/>
                </a:solidFill>
              </a:rPr>
              <a:t>Microservicio de inferencia Python / FastAPI con contenedor Docker (desplegado en Render).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☁️ Infraestructura en Producción Activa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✔ Vercel Edge Network: </a:t>
            </a:r>
            <a:r>
              <a:rPr b="0">
                <a:solidFill>
                  <a:srgbClr val="94A3B8"/>
                </a:solidFill>
              </a:rPr>
              <a:t>Alojamiento global con CDN de baja latencia para movil-chi.vercel.app y cocoashield-dashboard.vercel.app.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✔ Render Cloud Containers: </a:t>
            </a:r>
            <a:r>
              <a:rPr b="0">
                <a:solidFill>
                  <a:srgbClr val="94A3B8"/>
                </a:solidFill>
              </a:rPr>
              <a:t>Ejecución continua 24/7 con reinicio automático y túneles seguros para cocoashield-backend.onrender.com.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✔ Supabase PostgreSQL: </a:t>
            </a:r>
            <a:r>
              <a:rPr b="0">
                <a:solidFill>
                  <a:srgbClr val="94A3B8"/>
                </a:solidFill>
              </a:rPr>
              <a:t>Base de datos gestionada con alta resiliencia y copias de seguridad automáticas.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✔ SSL/TLS Automático: </a:t>
            </a:r>
            <a:r>
              <a:rPr b="0">
                <a:solidFill>
                  <a:srgbClr val="94A3B8"/>
                </a:solidFill>
              </a:rPr>
              <a:t>Comunicaciones cifradas de extremo a extremo mediante HTTPS estricto y tokens de sesión.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CAA0"/>
                </a:solidFill>
              </a:defRPr>
            </a:pPr>
            <a:r>
              <a:t>SEGURIDAD Y GOBERNANZA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Control de Acceso Basado en Roles (RBAC) &amp;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Separación estricta de responsabilidades operativas y protección integral de datos fitosanitarios.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11480"/>
            <a:ext cx="68580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737360"/>
            <a:ext cx="3456432" cy="457200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1821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👑 Dueño / Propietario (Owner)</a:t>
            </a:r>
          </a:p>
          <a:p>
            <a:pPr>
              <a:spcAft>
                <a:spcPts val="1400"/>
              </a:spcAft>
              <a:defRPr sz="1100">
                <a:solidFill>
                  <a:srgbClr val="FFFFFF"/>
                </a:solidFill>
              </a:defRPr>
            </a:pPr>
            <a:r>
              <a:t>Maickel (8040182@unamad.edu.pe)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Acceso completo a métricas estratégicas y rentabilidad.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Auditoría global de fincas y lotes infectados.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Visualización total del Dashboard y Mapa GIS.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Permisos de exportación de informes ejecutivos.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37360"/>
            <a:ext cx="3456432" cy="457200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11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920240"/>
            <a:ext cx="31821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CAA0"/>
                </a:solidFill>
              </a:defRPr>
            </a:pPr>
            <a:r>
              <a:t>🛡️ Administrador Central</a:t>
            </a:r>
          </a:p>
          <a:p>
            <a:pPr>
              <a:spcAft>
                <a:spcPts val="1400"/>
              </a:spcAft>
              <a:defRPr sz="1100">
                <a:solidFill>
                  <a:srgbClr val="FFFFFF"/>
                </a:solidFill>
              </a:defRPr>
            </a:pPr>
            <a:r>
              <a:t>admin@cocoashield.com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Gestión operativa de cuadrillas y brigadistas.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Emisión y firma de recetas agronómicas oficiales.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Seguimiento de estados: Crítico → En seguimiento → Resuelto.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Monitoreo de telemetría de red y estado de servidores.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737360"/>
            <a:ext cx="3456432" cy="457200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9016" y="1920240"/>
            <a:ext cx="31821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🌱 Trabajador de Campo (Brigadista)</a:t>
            </a:r>
          </a:p>
          <a:p>
            <a:pPr>
              <a:spcAft>
                <a:spcPts val="1400"/>
              </a:spcAft>
              <a:defRPr sz="1100">
                <a:solidFill>
                  <a:srgbClr val="FFFFFF"/>
                </a:solidFill>
              </a:defRPr>
            </a:pPr>
            <a:r>
              <a:t>maicolalverto158@gmail.com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Acceso exclusivo a la aplicación móvil (apps/movil).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Bloqueo de seguridad automático en Dashboard web.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Captura de fotografías, georreferenciación y guardado local.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Consulta del catálogo fitosanitario y primeros auxilios de poda.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CAA0"/>
                </a:solidFill>
              </a:defRPr>
            </a:pPr>
            <a:r>
              <a:t>IMPACTO Y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Impacto Agronómico y Visión a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Democratizando la inteligencia artificial para la agricultura familiar amazónica.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11480"/>
            <a:ext cx="68580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11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CAA0"/>
                </a:solidFill>
              </a:defRPr>
            </a:pPr>
            <a:r>
              <a:t>🏆 Logros e Impacto Técnico Demostrado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✔ Tiempo de Detección Drástico: </a:t>
            </a:r>
            <a:r>
              <a:rPr b="0">
                <a:solidFill>
                  <a:srgbClr val="94A3B8"/>
                </a:solidFill>
              </a:rPr>
              <a:t>Reducción del tiempo de respuesta fitosanitaria de semanas a menos de 2 segundos por fruto.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✔ 95%+ de Precisión Taxonómica: </a:t>
            </a:r>
            <a:r>
              <a:rPr b="0">
                <a:solidFill>
                  <a:srgbClr val="94A3B8"/>
                </a:solidFill>
              </a:rPr>
              <a:t>Capacidad demostrada para discriminar bolsas de enfunde, rocío y tejido necrótico sin falsos positivos.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✔ Resiliencia Offline Verificada: </a:t>
            </a:r>
            <a:r>
              <a:rPr b="0">
                <a:solidFill>
                  <a:srgbClr val="94A3B8"/>
                </a:solidFill>
              </a:rPr>
              <a:t>Los brigadistas pueden realizar cientos de escaneos sin cobertura celular, asegurando continuidad operativa.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✔ Soberanía del Productor: </a:t>
            </a:r>
            <a:r>
              <a:rPr b="0">
                <a:solidFill>
                  <a:srgbClr val="94A3B8"/>
                </a:solidFill>
              </a:rPr>
              <a:t>Herramienta gratuita y de fácil adopción que empodera al pequeño agricultor cacaotero.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21E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🔭 Próximos Pasos (Hoja de Ruta 2026-2027)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🚀 Modelos Edge ONNX Embebidos: </a:t>
            </a:r>
            <a:r>
              <a:rPr b="0">
                <a:solidFill>
                  <a:srgbClr val="94A3B8"/>
                </a:solidFill>
              </a:rPr>
              <a:t>Compilación de redes neuronales convolucionales ultraligeras para inferencia pura en el procesador del smartphone sin conexión.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🚀 Red de Sensores IoT Microclimáticos: </a:t>
            </a:r>
            <a:r>
              <a:rPr b="0">
                <a:solidFill>
                  <a:srgbClr val="94A3B8"/>
                </a:solidFill>
              </a:rPr>
              <a:t>Integración de nodos ESP32 con sensores DHT22 en campo para correlacionar humedad relativa con curvas de riesgo de esporulación.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🚀 Alertas Tempranas por WhatsApp / SMS: </a:t>
            </a:r>
            <a:r>
              <a:rPr b="0">
                <a:solidFill>
                  <a:srgbClr val="94A3B8"/>
                </a:solidFill>
              </a:rPr>
              <a:t>Notificaciones automáticas a comités de productores cuando se detecte un brote en un radio menor a 2 km.</a:t>
            </a:r>
          </a:p>
          <a:p>
            <a:pPr>
              <a:spcBef>
                <a:spcPts val="1000"/>
              </a:spcBef>
              <a:defRPr b="1" sz="1200">
                <a:solidFill>
                  <a:srgbClr val="FFFFFF"/>
                </a:solidFill>
              </a:defRPr>
            </a:pPr>
            <a:r>
              <a:t>🚀 Escalamiento a Cooperativas Cacaoteras: </a:t>
            </a:r>
            <a:r>
              <a:rPr b="0">
                <a:solidFill>
                  <a:srgbClr val="94A3B8"/>
                </a:solidFill>
              </a:rPr>
              <a:t>Implementación piloto con asociaciones de productores de Madre de Dios, Napo y Sucumbíos.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